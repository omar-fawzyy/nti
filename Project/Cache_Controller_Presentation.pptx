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48640"/>
            <a:ext cx="73152" cy="73152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548640"/>
            <a:ext cx="73152" cy="73152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48640"/>
            <a:ext cx="73152" cy="73152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1051560"/>
            <a:ext cx="73152" cy="73152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0" y="1051560"/>
            <a:ext cx="73152" cy="73152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1051560"/>
            <a:ext cx="73152" cy="73152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2C378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155802"/>
            <a:ext cx="523037" cy="5230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VERIFICATION OF 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32-Bit Direct-Mapped Cache Controller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Subsystem Implementation with Write-Back Policy &amp; MATLAB Golden Reference Validation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4434840"/>
            <a:ext cx="2743200" cy="0"/>
          </a:xfrm>
          <a:prstGeom prst="line">
            <a:avLst/>
          </a:prstGeom>
          <a:noFill/>
          <a:ln w="25400">
            <a:solidFill>
              <a:srgbClr val="5B7F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Fawzy Mahmoud   |   Hatem Mustafa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63040"/>
            <a:ext cx="640080" cy="640080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6166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4813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Wall Problem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speeds scale much faster than DRAM access speeds, causing CPU pipeline stalls during memory fetches.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11887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463040"/>
            <a:ext cx="640080" cy="64008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16166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4813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Cache Memory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46520" y="21945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ultra-fast SRAM buffer located close to the core, operating at CPU speed.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Principles — Locality of Reference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94360" cy="59436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16600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Locality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43708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accessed recently is likely to be accessed again soon.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4023360"/>
            <a:ext cx="594360" cy="59436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126" y="4166006"/>
            <a:ext cx="309067" cy="30906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Locality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903720" y="43708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adjacent to recently accessed addresses is likely to be accessed soon.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DF1FC"/>
          </a:solidFill>
          <a:ln/>
        </p:spPr>
      </p:sp>
      <p:sp>
        <p:nvSpPr>
          <p:cNvPr id="23" name="Text 17"/>
          <p:cNvSpPr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Average Memory Access Time (AMAT) and system power consumption.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Direct-Mapped Cache Controller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Specifications &amp; Memory Organization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CPU interface, 128-bit (16-byte) backing main memory line.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Policy: </a:t>
            </a:r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with Write-Allocate on Write Misses.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32-Bit Address Partitioning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91840" cy="685800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665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[31:10]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011680"/>
            <a:ext cx="1737360" cy="685800"/>
          </a:xfrm>
          <a:prstGeom prst="rect">
            <a:avLst/>
          </a:prstGeom>
          <a:solidFill>
            <a:srgbClr val="5B7F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0665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359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[9:4]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011680"/>
            <a:ext cx="1005840" cy="685800"/>
          </a:xfrm>
          <a:prstGeom prst="rect">
            <a:avLst/>
          </a:prstGeom>
          <a:solidFill>
            <a:srgbClr val="8AA0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0665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Off.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3591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[3:2]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011680"/>
            <a:ext cx="1005840" cy="685800"/>
          </a:xfrm>
          <a:prstGeom prst="rect">
            <a:avLst/>
          </a:prstGeom>
          <a:solidFill>
            <a:srgbClr val="B9C7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0665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Off.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3591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[1:0]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7063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bits — identifies unique block in memory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0" y="277063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bits — maps to 2^6 = 64 cache lines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0" y="277063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bits — selects W0–W3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77063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bits — always 2'b00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SRAM Storage Sizing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2670048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48056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KB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" y="51206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Array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128 bits = 1024 Bytes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64992" y="4343400"/>
            <a:ext cx="2670048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3502152" y="448056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1408 b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502152" y="51206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Array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22 bits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4343400"/>
            <a:ext cx="2670048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6318504" y="448056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b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318504" y="51206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Flags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Valid + 64 Dirty bits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97696" y="4343400"/>
            <a:ext cx="267004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9134856" y="448056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1.216 KB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134856" y="51206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9728 bits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Direct-Mapped Cache Controller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cooperating Verilog modules form the L1 cache subsystem.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cache_controller.v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FSM managing request latching, line fills, and writebacks.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6317A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737360"/>
            <a:ext cx="548640" cy="54864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cache_storage.v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743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SRAM arrays (Data, Tag, Valid, Dirty) and hit look-up logic.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6317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737360"/>
            <a:ext cx="548640" cy="54864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18690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main_memory.v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743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1024 × 128-bit backing store with single-cycle ready acknowledgment.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42316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6317A"/>
          </a:solidFill>
          <a:ln/>
        </p:spPr>
      </p:sp>
      <p:sp>
        <p:nvSpPr>
          <p:cNvPr id="20" name="Shape 15"/>
          <p:cNvSpPr/>
          <p:nvPr/>
        </p:nvSpPr>
        <p:spPr>
          <a:xfrm>
            <a:off x="2651760" y="3977640"/>
            <a:ext cx="548640" cy="54864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434" y="41093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651760" y="4663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perf_counters.v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651760" y="4983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total accesses, hits, and misses.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7220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6317A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0" y="3977640"/>
            <a:ext cx="548640" cy="54864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474" y="41093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0" y="4663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trace_generator.v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400800" y="4983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automated, repeatable test patterns.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Direct-Mapped Cache Controller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State Machine (FSM)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9844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8AA0E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9844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3'b000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45920" y="127101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Latches incoming cpu_addr, cpu_wr_data, and flags.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0972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07992" y="129844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5B7FE0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29844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3'b001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22392" y="127101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07992" y="18745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tag match and valid bit to route hit vs. miss.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10972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129844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29844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3'b010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98864" y="127101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18745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cpu_ready=1, merges 32-bit word on write, returns to IDLE.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227832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290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C77B2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290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3'b011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45920" y="340156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MISS_WRITEBACK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00507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Flushes modified line: mem_addr = {tag_out, index, 4'b0000}.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25112" y="3227832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07992" y="34290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C77B25"/>
          </a:solidFill>
          <a:ln/>
        </p:spPr>
      </p:sp>
      <p:sp>
        <p:nvSpPr>
          <p:cNvPr id="25" name="Text 23"/>
          <p:cNvSpPr/>
          <p:nvPr/>
        </p:nvSpPr>
        <p:spPr>
          <a:xfrm>
            <a:off x="4507992" y="34290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3'b100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22392" y="340156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MISS_WAIT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7992" y="400507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read request to main memory and waits for mem_ready.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1584" y="3227832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84464" y="34290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284464" y="34290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3'b101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98864" y="340156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84464" y="400507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fetched 128-bit block to SRAM, sets valid=1, dirty=0.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DF1F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98932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IDLE → COMPARE → (Hit) HIT   |   (Miss &amp; Dirty) MISS_WRITEBACK → MISS_WAIT → FILL   |   (Miss &amp; Clean) MISS_WAIT → FILL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Direct-Mapped Cache Controller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 State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transition diagram for the six-state cache controller.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88520" y="1280160"/>
            <a:ext cx="6214654" cy="5166360"/>
          </a:xfrm>
          <a:prstGeom prst="roundRect">
            <a:avLst>
              <a:gd name="adj" fmla="val 1062"/>
            </a:avLst>
          </a:prstGeom>
          <a:solidFill>
            <a:srgbClr val="F4F6FC"/>
          </a:solidFill>
          <a:ln/>
        </p:spPr>
      </p:sp>
      <p:pic>
        <p:nvPicPr>
          <p:cNvPr id="5" name="Image 0" descr="/mnt/user-data/uploads/1789646414610_WhatsApp_Image_2026-09-17_at_3_07_02_A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5680" y="1417320"/>
            <a:ext cx="5940334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Direct-Mapped Cache Controller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Debugging &amp; Key Fixes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40680" cy="5349240"/>
          </a:xfrm>
          <a:prstGeom prst="roundRect">
            <a:avLst>
              <a:gd name="adj" fmla="val 1368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5709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41732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#1 — Tag Bit-Slice Regression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for 0x00000100 wrote back to incorrect memory address 0x00040100.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767328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77B25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67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22452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generator sliced lower address bits [21:0] instead of upper bits [31:10].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5065776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E9E5B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0657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552297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all state logic in cache_controller.v to slice upper tag bits addr_reg[31:10].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1097280"/>
            <a:ext cx="5440680" cy="5349240"/>
          </a:xfrm>
          <a:prstGeom prst="roundRect">
            <a:avLst>
              <a:gd name="adj" fmla="val 1368"/>
            </a:avLst>
          </a:prstGeom>
          <a:solidFill>
            <a:srgbClr val="F4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446520" y="14173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157093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41732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#2 — Late Hit Sampling Synchronization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46520" y="24688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21" name="Text 17"/>
          <p:cNvSpPr/>
          <p:nvPr/>
        </p:nvSpPr>
        <p:spPr>
          <a:xfrm>
            <a:off x="644652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46520" y="2926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counters recorded false hits during line refills.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46520" y="3767328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77B25"/>
          </a:solidFill>
          <a:ln/>
        </p:spPr>
      </p:sp>
      <p:sp>
        <p:nvSpPr>
          <p:cNvPr id="24" name="Text 20"/>
          <p:cNvSpPr/>
          <p:nvPr/>
        </p:nvSpPr>
        <p:spPr>
          <a:xfrm>
            <a:off x="6446520" y="3767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46520" y="422452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status was sampled in HIT state after FILL had already written valid data.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46520" y="5065776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E9E5B"/>
          </a:solidFill>
          <a:ln/>
        </p:spPr>
      </p:sp>
      <p:sp>
        <p:nvSpPr>
          <p:cNvPr id="27" name="Text 23"/>
          <p:cNvSpPr/>
          <p:nvPr/>
        </p:nvSpPr>
        <p:spPr>
          <a:xfrm>
            <a:off x="6446520" y="50657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446520" y="552297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Latched was_hit inside the testbench during the COMPARE state.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Direct-Mapped Cache Controller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Results: MATLAB vs. Verilog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7315200" cy="237744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1737360"/>
                <a:gridCol w="13716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Golden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Verilog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Memory Accesses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Cache Hits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Cache Misses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 Line Evictions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Hit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Alignment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092440" y="10515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275320" y="1097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753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across every transaction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92440" y="23317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8275320" y="2377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27532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evictions to correct block addresses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Insights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233672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114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Correlation — every memory transaction exhibited identical outcomes across both models.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828032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091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Address Reconstruction — all 7 dirty evictions targeted calculated block addresses accurately.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422392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303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— word-merging on write hits modified only the targeted 32-bit word, leaving adjacent words intact.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Direct-Mapped Cache Controller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Achievements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671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0574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designed, implemented, and verified a 32-bit direct-mapped cache subsystem.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015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291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6-state FSM controller fully integrated with SRAM and real-time performance tracking.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5262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architectural correlation verified against MATLAB golden reference.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989320" y="1371600"/>
            <a:ext cx="0" cy="448056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309360" y="2057400"/>
            <a:ext cx="548640" cy="54864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4" y="218907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0880" y="207568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design to Set-Associative Cache structures (2-way / 4-way).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309360" y="3429000"/>
            <a:ext cx="548640" cy="548640"/>
          </a:xfrm>
          <a:prstGeom prst="ellipse">
            <a:avLst/>
          </a:prstGeom>
          <a:solidFill>
            <a:srgbClr val="5B7FE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4" y="3560674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40880" y="344728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configurable line-replacement algorithms (e.g., LRU / Pseudo-LRU).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Direct-Mapped Cache Controller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2026-09-17T12:01:40Z</dcterms:created>
  <dcterms:modified xsi:type="dcterms:W3CDTF">2026-09-17T12:01:40Z</dcterms:modified>
</cp:coreProperties>
</file>